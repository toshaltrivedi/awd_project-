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A5B4FC"/>
                </a:solidFill>
                <a:latin typeface="Calibri"/>
              </a:defRPr>
            </a:pPr>
            <a:r>
              <a:t>ITM SLS BU — SCHOOL OF COMPUTER SCIENCE, ENGINEERING &amp; TECHNOLOGY</a:t>
            </a:r>
          </a:p>
          <a:p>
            <a:pPr>
              <a:spcAft>
                <a:spcPts val="800"/>
              </a:spcAft>
              <a:defRPr sz="3600" b="1">
                <a:solidFill>
                  <a:srgbClr val="FFFFFF"/>
                </a:solidFill>
                <a:latin typeface="Arial"/>
              </a:defRPr>
            </a:pPr>
            <a:r>
              <a:t>Crackly: Global Hackathon Winning Presentations Archive</a:t>
            </a:r>
          </a:p>
          <a:p>
            <a:pPr>
              <a:spcAft>
                <a:spcPts val="2800"/>
              </a:spcAft>
              <a:defRPr sz="2000">
                <a:solidFill>
                  <a:srgbClr val="E2E8F0"/>
                </a:solidFill>
                <a:latin typeface="Calibri"/>
              </a:defRPr>
            </a:pPr>
            <a:r>
              <a:t>Regular Final Viva-Voce Examination | Project-Based Learning (PBL) Submission</a:t>
            </a:r>
          </a:p>
          <a:p>
            <a:pPr>
              <a:spcAft>
                <a:spcPts val="2000"/>
              </a:spcAft>
              <a:defRPr sz="1400" b="1">
                <a:solidFill>
                  <a:srgbClr val="FBBF24"/>
                </a:solidFill>
                <a:latin typeface="Calibri"/>
              </a:defRPr>
            </a:pPr>
            <a:r>
              <a:t>• Task 1: Comparative Technology Study  |  • Task 2: Security Audit Report  |  • Task 3: Security Libraries Demo</a:t>
            </a:r>
          </a:p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Course: Advanced Web Development (AWD)  |  B.Tech Semester-5 (Winter 2026)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4F46E5"/>
                </a:solidFill>
                <a:latin typeface="Calibri"/>
              </a:defRPr>
            </a:pPr>
            <a:r>
              <a:t>ADVANCED WEB DEVELOPMENT | B.TECH SEMESTER-5</a:t>
            </a:r>
          </a:p>
          <a:p>
            <a:pPr>
              <a:defRPr sz="2600" b="1">
                <a:solidFill>
                  <a:srgbClr val="0F172A"/>
                </a:solidFill>
                <a:latin typeface="Arial"/>
              </a:defRPr>
            </a:pPr>
            <a:r>
              <a:t>Project Overview: What is Crackly?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2880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600">
                <a:solidFill>
                  <a:srgbClr val="4F46E5"/>
                </a:solidFill>
              </a:defRPr>
            </a:pPr>
            <a:r>
              <a:t>THE PROBLEM &amp; NEED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• Students participate in hackathons (ETHIndia, PennApps, HackMIT, CalHacks) but struggle to understand what judges actually look for.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• Existing repositories list projects, but do NOT explain why they won or show the underlying rubric scoring breakdowns.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• Presentations, pitch videos, and rubric scores are scattered across Devpost, SlideShare, and YouTube.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• Need: A clean, accessible web archive where developers study winning pitches with structured evaluation criteria.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0" y="182880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600">
                <a:solidFill>
                  <a:srgbClr val="059669"/>
                </a:solidFill>
              </a:defRPr>
            </a:pPr>
            <a:r>
              <a:t>THE CRACKLY SOLUTION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✔ Categorized Archive: Browse winning decks across AI/ML, Web3, DevTools, Social Good, and Healthcare.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✔ Why They Won Pointers: Specific analytical takeaways explaining the presenter's hook, demo timing, and judge defense.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✔ Official Judging Rubrics Table: Every entry has a complete breakdown (Max Score, Score Awarded, and Specific Judge Remarks).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✔ Deep Links: 1-click access to Google Slides / PPT, demo video, and source GitHub repositories.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✔ Offline Resilient Architecture: Built-in fallback mock datasets guarantee zero downtime during evaluations.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4F46E5"/>
                </a:solidFill>
                <a:latin typeface="Calibri"/>
              </a:defRPr>
            </a:pPr>
            <a:r>
              <a:t>ADVANCED WEB DEVELOPMENT | B.TECH SEMESTER-5</a:t>
            </a:r>
          </a:p>
          <a:p>
            <a:pPr>
              <a:defRPr sz="2600" b="1">
                <a:solidFill>
                  <a:srgbClr val="0F172A"/>
                </a:solidFill>
                <a:latin typeface="Arial"/>
              </a:defRPr>
            </a:pPr>
            <a:r>
              <a:t>Full-Stack System Architecture &amp; Technology Stack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572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2926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300">
                <a:solidFill>
                  <a:srgbClr val="4F46E5"/>
                </a:solidFill>
              </a:defRPr>
            </a:pPr>
            <a:r>
              <a:t>FRONTEND CLIENT</a:t>
            </a:r>
          </a:p>
          <a:p>
            <a:pPr>
              <a:spcAft>
                <a:spcPts val="1400"/>
              </a:spcAft>
              <a:defRPr b="1" sz="1700">
                <a:solidFill>
                  <a:srgbClr val="0F172A"/>
                </a:solidFill>
              </a:defRPr>
            </a:pPr>
            <a:r>
              <a:t>React 18 + Vite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Functional components with React Hooks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Tailwind CSS responsive design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Real-time debounced search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Modular architecture (4 clean components)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Client-side offline fallback cache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572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17720" y="1828800"/>
            <a:ext cx="2926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300">
                <a:solidFill>
                  <a:srgbClr val="2563EB"/>
                </a:solidFill>
              </a:defRPr>
            </a:pPr>
            <a:r>
              <a:t>REST BACKEND API</a:t>
            </a:r>
          </a:p>
          <a:p>
            <a:pPr>
              <a:spcAft>
                <a:spcPts val="1400"/>
              </a:spcAft>
              <a:defRPr b="1" sz="1700">
                <a:solidFill>
                  <a:srgbClr val="0F172A"/>
                </a:solidFill>
              </a:defRPr>
            </a:pPr>
            <a:r>
              <a:t>Express.js + Node.js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RESTful URI resource routing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Rate limiting (200 req / 15 min)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Centralized error handling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Helmet.js security headers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Fail-fast MongoDB connection manager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75320" y="1828800"/>
            <a:ext cx="2926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300">
                <a:solidFill>
                  <a:srgbClr val="059669"/>
                </a:solidFill>
              </a:defRPr>
            </a:pPr>
            <a:r>
              <a:t>DATABASE &amp; SECURITY</a:t>
            </a:r>
          </a:p>
          <a:p>
            <a:pPr>
              <a:spcAft>
                <a:spcPts val="1400"/>
              </a:spcAft>
              <a:defRPr b="1" sz="1700">
                <a:solidFill>
                  <a:srgbClr val="0F172A"/>
                </a:solidFill>
              </a:defRPr>
            </a:pPr>
            <a:r>
              <a:t>MongoDB + Security Libs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Mongoose document models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bcrypt password hashing (cost 10)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Joi strict schema validation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JWT token-based authentication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CORS restricted to localhost:5173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4F46E5"/>
                </a:solidFill>
                <a:latin typeface="Calibri"/>
              </a:defRPr>
            </a:pPr>
            <a:r>
              <a:t>AWD TASK 1 | COMPARATIVE STUDY</a:t>
            </a:r>
          </a:p>
          <a:p>
            <a:pPr>
              <a:defRPr sz="2600" b="1">
                <a:solidFill>
                  <a:srgbClr val="0F172A"/>
                </a:solidFill>
                <a:latin typeface="Arial"/>
              </a:defRPr>
            </a:pPr>
            <a:r>
              <a:t>Task 1: Comparative Technology Study Overview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212080" cy="21945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78308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0F172A"/>
                </a:solidFill>
              </a:defRPr>
            </a:pPr>
            <a:r>
              <a:t>1. REST API vs. GraphQL</a:t>
            </a:r>
          </a:p>
          <a:p>
            <a:pPr>
              <a:spcAft>
                <a:spcPts val="400"/>
              </a:spcAft>
              <a:defRPr b="1" sz="1300">
                <a:solidFill>
                  <a:srgbClr val="4F46E5"/>
                </a:solidFill>
              </a:defRPr>
            </a:pPr>
            <a:r>
              <a:t>✔ Selected: REST API</a:t>
            </a:r>
          </a:p>
          <a:p>
            <a:pPr>
              <a:defRPr sz="1150">
                <a:solidFill>
                  <a:srgbClr val="0F172A"/>
                </a:solidFill>
              </a:defRPr>
            </a:pPr>
            <a:r>
              <a:t>Why: Crackly has deterministic read patterns. REST provides standard HTTP caching, status codes, uniform security middleware, and zero client bundle bloat compared to GraphQL query overhead.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21945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178308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0F172A"/>
                </a:solidFill>
              </a:defRPr>
            </a:pPr>
            <a:r>
              <a:t>2. MongoDB vs. MySQL</a:t>
            </a:r>
          </a:p>
          <a:p>
            <a:pPr>
              <a:spcAft>
                <a:spcPts val="400"/>
              </a:spcAft>
              <a:defRPr b="1" sz="1300">
                <a:solidFill>
                  <a:srgbClr val="4F46E5"/>
                </a:solidFill>
              </a:defRPr>
            </a:pPr>
            <a:r>
              <a:t>✔ Selected: MongoDB (NoSQL)</a:t>
            </a:r>
          </a:p>
          <a:p>
            <a:pPr>
              <a:defRPr sz="1150">
                <a:solidFill>
                  <a:srgbClr val="0F172A"/>
                </a:solidFill>
              </a:defRPr>
            </a:pPr>
            <a:r>
              <a:t>Why: Presentations have nested arrays (rubrics, pointers, tags). In MySQL, this requires 4 tables and 3 joins. In MongoDB, it's 1 cohesive document retrieved in an O(1) operation.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114800"/>
            <a:ext cx="5212080" cy="21945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425196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0F172A"/>
                </a:solidFill>
              </a:defRPr>
            </a:pPr>
            <a:r>
              <a:t>3. React vs. Angular</a:t>
            </a:r>
          </a:p>
          <a:p>
            <a:pPr>
              <a:spcAft>
                <a:spcPts val="400"/>
              </a:spcAft>
              <a:defRPr b="1" sz="1300">
                <a:solidFill>
                  <a:srgbClr val="4F46E5"/>
                </a:solidFill>
              </a:defRPr>
            </a:pPr>
            <a:r>
              <a:t>✔ Selected: React 18 (Vite)</a:t>
            </a:r>
          </a:p>
          <a:p>
            <a:pPr>
              <a:defRPr sz="1150">
                <a:solidFill>
                  <a:srgbClr val="0F172A"/>
                </a:solidFill>
              </a:defRPr>
            </a:pPr>
            <a:r>
              <a:t>Why: Component composition with lightweight hooks (useState, useCallback) provides fast UI updates without Angular's heavy boilerplate, RxJS observables, and large runtime bundle.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4114800"/>
            <a:ext cx="5212080" cy="21945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425196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0F172A"/>
                </a:solidFill>
              </a:defRPr>
            </a:pPr>
            <a:r>
              <a:t>4. JWT vs. Session Auth</a:t>
            </a:r>
          </a:p>
          <a:p>
            <a:pPr>
              <a:spcAft>
                <a:spcPts val="400"/>
              </a:spcAft>
              <a:defRPr b="1" sz="1300">
                <a:solidFill>
                  <a:srgbClr val="4F46E5"/>
                </a:solidFill>
              </a:defRPr>
            </a:pPr>
            <a:r>
              <a:t>✔ Selected: JWT Authentication</a:t>
            </a:r>
          </a:p>
          <a:p>
            <a:pPr>
              <a:defRPr sz="1150">
                <a:solidFill>
                  <a:srgbClr val="0F172A"/>
                </a:solidFill>
              </a:defRPr>
            </a:pPr>
            <a:r>
              <a:t>Why: Stateless tokens align with REST principles. The server stores zero session state, enabling horizontal scaling and mobile interoperability while embedding role claims directly.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4F46E5"/>
                </a:solidFill>
                <a:latin typeface="Calibri"/>
              </a:defRPr>
            </a:pPr>
            <a:r>
              <a:t>AWD TASK 1 | COMPARATIVE STUDY</a:t>
            </a:r>
          </a:p>
          <a:p>
            <a:pPr>
              <a:defRPr sz="2600" b="1">
                <a:solidFill>
                  <a:srgbClr val="0F172A"/>
                </a:solidFill>
                <a:latin typeface="Arial"/>
              </a:defRPr>
            </a:pPr>
            <a:r>
              <a:t>Task 1: Architecture Trade-Offs (API &amp; Database)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600">
                <a:solidFill>
                  <a:srgbClr val="4F46E5"/>
                </a:solidFill>
              </a:defRPr>
            </a:pPr>
            <a:r>
              <a:t>REST API vs. GRAPHQL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Architecture: Multiple resource endpoints vs. single /graphql endpoint.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Caching: REST uses native HTTP headers (Cache-Control, ETag); GraphQL requires complex client-side cache stores.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Error Handling: REST returns true HTTP codes (200, 400, 404, 500); GraphQL standardly returns 200 OK with error body.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Overhead: GraphQL introduces query depth complexity and N+1 resolver performance hazards.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Crackly Verdict: REST API is chosen for fast, predictable presentation queries, straightforward rate limiting, and zero third-party client weight.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182880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600">
                <a:solidFill>
                  <a:srgbClr val="2563EB"/>
                </a:solidFill>
              </a:defRPr>
            </a:pPr>
            <a:r>
              <a:t>MONGODB (NoSQL) vs. MYSQL (SQL)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Data Model: Flexible BSON documents vs. rigid tabular rows and columns.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Nested Data: MongoDB natively stores rubrics array [{ parameter, maxScore, scoreAwarded, remarks }] inside the presentation document.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Schema Migrations: MongoDB allows effortless schema evolution; MySQL requires disruptive ALTER TABLE statements.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Join Overhead: MySQL requires 3-4 table joins to reconstruct a single presentation card with rubrics, tags, and pointers.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Crackly Verdict: MongoDB + Mongoose perfectly matches JavaScript object models and provides high read performance for document trees.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4F46E5"/>
                </a:solidFill>
                <a:latin typeface="Calibri"/>
              </a:defRPr>
            </a:pPr>
            <a:r>
              <a:t>AWD TASK 2 | SECURITY AUDIT REPORT</a:t>
            </a:r>
          </a:p>
          <a:p>
            <a:pPr>
              <a:defRPr sz="2600" b="1">
                <a:solidFill>
                  <a:srgbClr val="0F172A"/>
                </a:solidFill>
                <a:latin typeface="Arial"/>
              </a:defRPr>
            </a:pPr>
            <a:r>
              <a:t>Task 2: Security Audit Report &amp; Risk Classification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2103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755648"/>
            <a:ext cx="31089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F172A"/>
                </a:solidFill>
              </a:defRPr>
            </a:pPr>
            <a:r>
              <a:t>NoSQL Query Injection</a:t>
            </a:r>
          </a:p>
          <a:p>
            <a:pPr>
              <a:spcAft>
                <a:spcPts val="200"/>
              </a:spcAft>
              <a:defRPr b="1" sz="1100">
                <a:solidFill>
                  <a:srgbClr val="D97706"/>
                </a:solidFill>
              </a:defRPr>
            </a:pPr>
            <a:r>
              <a:t>Risk: HIGH (8.2)</a:t>
            </a:r>
          </a:p>
          <a:p>
            <a:pPr>
              <a:spcAft>
                <a:spcPts val="200"/>
              </a:spcAft>
              <a:defRPr sz="1050">
                <a:solidFill>
                  <a:srgbClr val="64748B"/>
                </a:solidFill>
              </a:defRPr>
            </a:pPr>
            <a:r>
              <a:t>Threat: Query selectors ($gt, $ne) injected in search/filter params.</a:t>
            </a:r>
          </a:p>
          <a:p>
            <a:pPr>
              <a:defRPr sz="1050" b="1">
                <a:solidFill>
                  <a:srgbClr val="059669"/>
                </a:solidFill>
              </a:defRPr>
            </a:pPr>
            <a:r>
              <a:t>Defense: Joi schema enforces primitive strings; escapeRegex() sanitizes text search.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2103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26280" y="1755648"/>
            <a:ext cx="31089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F172A"/>
                </a:solidFill>
              </a:defRPr>
            </a:pPr>
            <a:r>
              <a:t>Cross-Site Scripting (XSS)</a:t>
            </a:r>
          </a:p>
          <a:p>
            <a:pPr>
              <a:spcAft>
                <a:spcPts val="200"/>
              </a:spcAft>
              <a:defRPr b="1" sz="1100">
                <a:solidFill>
                  <a:srgbClr val="D97706"/>
                </a:solidFill>
              </a:defRPr>
            </a:pPr>
            <a:r>
              <a:t>Risk: HIGH (7.8)</a:t>
            </a:r>
          </a:p>
          <a:p>
            <a:pPr>
              <a:spcAft>
                <a:spcPts val="200"/>
              </a:spcAft>
              <a:defRPr sz="1050">
                <a:solidFill>
                  <a:srgbClr val="64748B"/>
                </a:solidFill>
              </a:defRPr>
            </a:pPr>
            <a:r>
              <a:t>Threat: Malicious script tags in title or javascript: URI in slide links.</a:t>
            </a:r>
          </a:p>
          <a:p>
            <a:pPr>
              <a:defRPr sz="1050" b="1">
                <a:solidFill>
                  <a:srgbClr val="059669"/>
                </a:solidFill>
              </a:defRPr>
            </a:pPr>
            <a:r>
              <a:t>Defense: React JSX auto-escapes text; Joi enforces http/https URI scheme; Helmet CSP.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2103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83880" y="1755648"/>
            <a:ext cx="31089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F172A"/>
                </a:solidFill>
              </a:defRPr>
            </a:pPr>
            <a:r>
              <a:t>Insecure Password Storage</a:t>
            </a:r>
          </a:p>
          <a:p>
            <a:pPr>
              <a:spcAft>
                <a:spcPts val="200"/>
              </a:spcAft>
              <a:defRPr b="1" sz="1100">
                <a:solidFill>
                  <a:srgbClr val="D97706"/>
                </a:solidFill>
              </a:defRPr>
            </a:pPr>
            <a:r>
              <a:t>Risk: HIGH (8.5)</a:t>
            </a:r>
          </a:p>
          <a:p>
            <a:pPr>
              <a:spcAft>
                <a:spcPts val="200"/>
              </a:spcAft>
              <a:defRPr sz="1050">
                <a:solidFill>
                  <a:srgbClr val="64748B"/>
                </a:solidFill>
              </a:defRPr>
            </a:pPr>
            <a:r>
              <a:t>Threat: Plaintext or fast-hash (MD5/SHA) exposure in database dumps.</a:t>
            </a:r>
          </a:p>
          <a:p>
            <a:pPr>
              <a:defRPr sz="1050" b="1">
                <a:solidFill>
                  <a:srgbClr val="059669"/>
                </a:solidFill>
              </a:defRPr>
            </a:pPr>
            <a:r>
              <a:t>Defense: bcrypt adaptive hashing with 10 salt rounds in Mongoose pre-save hook.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114800"/>
            <a:ext cx="3383280" cy="2103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224528"/>
            <a:ext cx="31089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F172A"/>
                </a:solidFill>
              </a:defRPr>
            </a:pPr>
            <a:r>
              <a:t>Weak Authentication</a:t>
            </a:r>
          </a:p>
          <a:p>
            <a:pPr>
              <a:spcAft>
                <a:spcPts val="200"/>
              </a:spcAft>
              <a:defRPr b="1" sz="1100">
                <a:solidFill>
                  <a:srgbClr val="2563EB"/>
                </a:solidFill>
              </a:defRPr>
            </a:pPr>
            <a:r>
              <a:t>Risk: MEDIUM (6.5)</a:t>
            </a:r>
          </a:p>
          <a:p>
            <a:pPr>
              <a:spcAft>
                <a:spcPts val="200"/>
              </a:spcAft>
              <a:defRPr sz="1050">
                <a:solidFill>
                  <a:srgbClr val="64748B"/>
                </a:solidFill>
              </a:defRPr>
            </a:pPr>
            <a:r>
              <a:t>Threat: JWT signature tampering or missing expiration windows.</a:t>
            </a:r>
          </a:p>
          <a:p>
            <a:pPr>
              <a:defRPr sz="1050" b="1">
                <a:solidFill>
                  <a:srgbClr val="059669"/>
                </a:solidFill>
              </a:defRPr>
            </a:pPr>
            <a:r>
              <a:t>Defense: HMAC-SHA256 signature verification, 7d expiration, and RBAC middleware.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4114800"/>
            <a:ext cx="3383280" cy="2103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4224528"/>
            <a:ext cx="31089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F172A"/>
                </a:solidFill>
              </a:defRPr>
            </a:pPr>
            <a:r>
              <a:t>Inadequate Input Validation</a:t>
            </a:r>
          </a:p>
          <a:p>
            <a:pPr>
              <a:spcAft>
                <a:spcPts val="200"/>
              </a:spcAft>
              <a:defRPr b="1" sz="1100">
                <a:solidFill>
                  <a:srgbClr val="2563EB"/>
                </a:solidFill>
              </a:defRPr>
            </a:pPr>
            <a:r>
              <a:t>Risk: MEDIUM (6.1)</a:t>
            </a:r>
          </a:p>
          <a:p>
            <a:pPr>
              <a:spcAft>
                <a:spcPts val="200"/>
              </a:spcAft>
              <a:defRPr sz="1050">
                <a:solidFill>
                  <a:srgbClr val="64748B"/>
                </a:solidFill>
              </a:defRPr>
            </a:pPr>
            <a:r>
              <a:t>Threat: Mass assignment injecting admin flags or invalid scores.</a:t>
            </a:r>
          </a:p>
          <a:p>
            <a:pPr>
              <a:defRPr sz="1050" b="1">
                <a:solidFill>
                  <a:srgbClr val="059669"/>
                </a:solidFill>
              </a:defRPr>
            </a:pPr>
            <a:r>
              <a:t>Defense: Joi validation middleware with stripUnknown: true discards unmapped keys.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4114800"/>
            <a:ext cx="3383280" cy="2103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3880" y="4224528"/>
            <a:ext cx="31089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F172A"/>
                </a:solidFill>
              </a:defRPr>
            </a:pPr>
            <a:r>
              <a:t>Clickjacking &amp; DoS Abuse</a:t>
            </a:r>
          </a:p>
          <a:p>
            <a:pPr>
              <a:spcAft>
                <a:spcPts val="200"/>
              </a:spcAft>
              <a:defRPr b="1" sz="1100">
                <a:solidFill>
                  <a:srgbClr val="2563EB"/>
                </a:solidFill>
              </a:defRPr>
            </a:pPr>
            <a:r>
              <a:t>Risk: MEDIUM (5.4)</a:t>
            </a:r>
          </a:p>
          <a:p>
            <a:pPr>
              <a:spcAft>
                <a:spcPts val="200"/>
              </a:spcAft>
              <a:defRPr sz="1050">
                <a:solidFill>
                  <a:srgbClr val="64748B"/>
                </a:solidFill>
              </a:defRPr>
            </a:pPr>
            <a:r>
              <a:t>Threat: Embedding site in transparent iframes; request flooding.</a:t>
            </a:r>
          </a:p>
          <a:p>
            <a:pPr>
              <a:defRPr sz="1050" b="1">
                <a:solidFill>
                  <a:srgbClr val="059669"/>
                </a:solidFill>
              </a:defRPr>
            </a:pPr>
            <a:r>
              <a:t>Defense: Helmet X-Frame-Options: DENY; express-rate-limit (200 req / 15 min).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4F46E5"/>
                </a:solidFill>
                <a:latin typeface="Calibri"/>
              </a:defRPr>
            </a:pPr>
            <a:r>
              <a:t>AWD TASK 3 | SECURITY LIBRARIES DEMO</a:t>
            </a:r>
          </a:p>
          <a:p>
            <a:pPr>
              <a:defRPr sz="2600" b="1">
                <a:solidFill>
                  <a:srgbClr val="0F172A"/>
                </a:solidFill>
                <a:latin typeface="Arial"/>
              </a:defRPr>
            </a:pPr>
            <a:r>
              <a:t>Task 3: Security Library 1 — Helmet.js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600">
                <a:solidFill>
                  <a:srgbClr val="4F46E5"/>
                </a:solidFill>
              </a:defRPr>
            </a:pPr>
            <a:r>
              <a:t>ROLE &amp; HTTP SECURITY HEADERS</a:t>
            </a:r>
          </a:p>
          <a:p>
            <a:pPr>
              <a:defRPr b="1" sz="1200">
                <a:solidFill>
                  <a:srgbClr val="0F172A"/>
                </a:solidFill>
              </a:defRPr>
            </a:pPr>
            <a:r>
              <a:t>✔ X-Frame-Options: DENY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   Blocks clickjacking by prohibiting any domain from rendering Crackly inside an &lt;iframe&gt;.</a:t>
            </a:r>
          </a:p>
          <a:p>
            <a:pPr>
              <a:defRPr b="1" sz="1200">
                <a:solidFill>
                  <a:srgbClr val="0F172A"/>
                </a:solidFill>
              </a:defRPr>
            </a:pPr>
            <a:r>
              <a:t>✔ X-Content-Type-Options: nosniff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   Forces browsers to strictly respect declared MIME types, preventing script execution from image files.</a:t>
            </a:r>
          </a:p>
          <a:p>
            <a:pPr>
              <a:defRPr b="1" sz="1200">
                <a:solidFill>
                  <a:srgbClr val="0F172A"/>
                </a:solidFill>
              </a:defRPr>
            </a:pPr>
            <a:r>
              <a:t>✔ Content-Security-Policy (CSP)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   Restricts script, font, and style injection sources to trusted domains and self.</a:t>
            </a:r>
          </a:p>
          <a:p>
            <a:pPr>
              <a:defRPr b="1" sz="1200">
                <a:solidFill>
                  <a:srgbClr val="0F172A"/>
                </a:solidFill>
              </a:defRPr>
            </a:pPr>
            <a:r>
              <a:t>✔ Strict-Transport-Security (HSTS)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   Enforces HTTPS connections for 1 year (maxAge=31536000), mitigating SSL-stripping man-in-the-middle attacks.</a:t>
            </a:r>
          </a:p>
          <a:p>
            <a:pPr>
              <a:defRPr b="1" sz="1200">
                <a:solidFill>
                  <a:srgbClr val="0F172A"/>
                </a:solidFill>
              </a:defRPr>
            </a:pPr>
            <a:r>
              <a:t>✔ hidePoweredBy: true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</a:defRPr>
            </a:pPr>
            <a:r>
              <a:t>   Removes the X-Powered-By: Express header, denying automated bot crawlers easy server fingerprinting.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182880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600">
                <a:solidFill>
                  <a:srgbClr val="0F172A"/>
                </a:solidFill>
              </a:defRPr>
            </a:pPr>
            <a:r>
              <a:t>IMPLEMENTATION IN SERVER.JS</a:t>
            </a:r>
          </a:p>
          <a:p>
            <a:pPr>
              <a:defRPr sz="1050">
                <a:solidFill>
                  <a:srgbClr val="059669"/>
                </a:solidFill>
                <a:latin typeface="Consolas"/>
              </a:defRPr>
            </a:pPr>
            <a:r>
              <a:t>// server/server.js</a:t>
            </a:r>
          </a:p>
          <a:p>
            <a:pPr>
              <a:defRPr sz="1050">
                <a:solidFill>
                  <a:srgbClr val="0F172A"/>
                </a:solidFill>
                <a:latin typeface="Consolas"/>
              </a:defRPr>
            </a:pPr>
            <a:r>
              <a:t>import helmet from 'helmet';</a:t>
            </a:r>
          </a:p>
          <a:p>
            <a:pPr>
              <a:defRPr sz="1050">
                <a:solidFill>
                  <a:srgbClr val="0F172A"/>
                </a:solidFill>
                <a:latin typeface="Consolas"/>
              </a:defRPr>
            </a:pPr>
          </a:p>
          <a:p>
            <a:pPr>
              <a:defRPr sz="1050">
                <a:solidFill>
                  <a:srgbClr val="0F172A"/>
                </a:solidFill>
                <a:latin typeface="Consolas"/>
              </a:defRPr>
            </a:pPr>
            <a:r>
              <a:t>app.use(helmet({</a:t>
            </a:r>
          </a:p>
          <a:p>
            <a:pPr>
              <a:defRPr sz="1050">
                <a:solidFill>
                  <a:srgbClr val="0F172A"/>
                </a:solidFill>
                <a:latin typeface="Consolas"/>
              </a:defRPr>
            </a:pPr>
            <a:r>
              <a:t>  contentSecurityPolicy: {</a:t>
            </a:r>
          </a:p>
          <a:p>
            <a:pPr>
              <a:defRPr sz="1050">
                <a:solidFill>
                  <a:srgbClr val="0F172A"/>
                </a:solidFill>
                <a:latin typeface="Consolas"/>
              </a:defRPr>
            </a:pPr>
            <a:r>
              <a:t>    directives: {</a:t>
            </a:r>
          </a:p>
          <a:p>
            <a:pPr>
              <a:defRPr sz="1050">
                <a:solidFill>
                  <a:srgbClr val="0F172A"/>
                </a:solidFill>
                <a:latin typeface="Consolas"/>
              </a:defRPr>
            </a:pPr>
            <a:r>
              <a:t>      defaultSrc: ["'self'"],</a:t>
            </a:r>
          </a:p>
          <a:p>
            <a:pPr>
              <a:defRPr sz="1050">
                <a:solidFill>
                  <a:srgbClr val="0F172A"/>
                </a:solidFill>
                <a:latin typeface="Consolas"/>
              </a:defRPr>
            </a:pPr>
            <a:r>
              <a:t>      scriptSrc: ["'self'", "'unsafe-inline'"],</a:t>
            </a:r>
          </a:p>
          <a:p>
            <a:pPr>
              <a:defRPr sz="1050">
                <a:solidFill>
                  <a:srgbClr val="0F172A"/>
                </a:solidFill>
                <a:latin typeface="Consolas"/>
              </a:defRPr>
            </a:pPr>
            <a:r>
              <a:t>      styleSrc: ["'self'", "'unsafe-inline'",</a:t>
            </a:r>
          </a:p>
          <a:p>
            <a:pPr>
              <a:defRPr sz="1050">
                <a:solidFill>
                  <a:srgbClr val="0F172A"/>
                </a:solidFill>
                <a:latin typeface="Consolas"/>
              </a:defRPr>
            </a:pPr>
            <a:r>
              <a:t>                'https://fonts.googleapis.com'],</a:t>
            </a:r>
          </a:p>
          <a:p>
            <a:pPr>
              <a:defRPr sz="1050">
                <a:solidFill>
                  <a:srgbClr val="0F172A"/>
                </a:solidFill>
                <a:latin typeface="Consolas"/>
              </a:defRPr>
            </a:pPr>
            <a:r>
              <a:t>      fontSrc: ["'self'", 'https://fonts.gstatic.com']</a:t>
            </a:r>
          </a:p>
          <a:p>
            <a:pPr>
              <a:defRPr sz="1050">
                <a:solidFill>
                  <a:srgbClr val="0F172A"/>
                </a:solidFill>
                <a:latin typeface="Consolas"/>
              </a:defRPr>
            </a:pPr>
            <a:r>
              <a:t>    }</a:t>
            </a:r>
          </a:p>
          <a:p>
            <a:pPr>
              <a:defRPr sz="1050">
                <a:solidFill>
                  <a:srgbClr val="0F172A"/>
                </a:solidFill>
                <a:latin typeface="Consolas"/>
              </a:defRPr>
            </a:pPr>
            <a:r>
              <a:t>  },</a:t>
            </a:r>
          </a:p>
          <a:p>
            <a:pPr>
              <a:defRPr sz="1050">
                <a:solidFill>
                  <a:srgbClr val="0F172A"/>
                </a:solidFill>
                <a:latin typeface="Consolas"/>
              </a:defRPr>
            </a:pPr>
            <a:r>
              <a:t>  frameguard: { action: 'deny' },</a:t>
            </a:r>
          </a:p>
          <a:p>
            <a:pPr>
              <a:defRPr sz="1050">
                <a:solidFill>
                  <a:srgbClr val="0F172A"/>
                </a:solidFill>
                <a:latin typeface="Consolas"/>
              </a:defRPr>
            </a:pPr>
            <a:r>
              <a:t>  hidePoweredBy: true,</a:t>
            </a:r>
          </a:p>
          <a:p>
            <a:pPr>
              <a:defRPr sz="1050">
                <a:solidFill>
                  <a:srgbClr val="0F172A"/>
                </a:solidFill>
                <a:latin typeface="Consolas"/>
              </a:defRPr>
            </a:pPr>
            <a:r>
              <a:t>  noSniff: true,</a:t>
            </a:r>
          </a:p>
          <a:p>
            <a:pPr>
              <a:defRPr sz="1050">
                <a:solidFill>
                  <a:srgbClr val="0F172A"/>
                </a:solidFill>
                <a:latin typeface="Consolas"/>
              </a:defRPr>
            </a:pPr>
            <a:r>
              <a:t>  hsts: { maxAge: 31536000, includeSubDomains: true }</a:t>
            </a:r>
          </a:p>
          <a:p>
            <a:pPr>
              <a:defRPr sz="1050">
                <a:solidFill>
                  <a:srgbClr val="0F172A"/>
                </a:solidFill>
                <a:latin typeface="Consolas"/>
              </a:defRPr>
            </a:pPr>
            <a:r>
              <a:t>}));</a:t>
            </a:r>
          </a:p>
          <a:p>
            <a:pPr>
              <a:defRPr sz="1050">
                <a:solidFill>
                  <a:srgbClr val="0F172A"/>
                </a:solidFill>
                <a:latin typeface="Consolas"/>
              </a:defRPr>
            </a:pPr>
          </a:p>
          <a:p>
            <a:pPr>
              <a:defRPr sz="1050">
                <a:solidFill>
                  <a:srgbClr val="059669"/>
                </a:solidFill>
                <a:latin typeface="Consolas"/>
              </a:defRPr>
            </a:pPr>
            <a:r>
              <a:t>// Live Verification Output:</a:t>
            </a:r>
          </a:p>
          <a:p>
            <a:pPr>
              <a:defRPr sz="1050">
                <a:solidFill>
                  <a:srgbClr val="059669"/>
                </a:solidFill>
                <a:latin typeface="Consolas"/>
              </a:defRPr>
            </a:pPr>
            <a:r>
              <a:t>// &gt; X-Frame-Options: DENY</a:t>
            </a:r>
          </a:p>
          <a:p>
            <a:pPr>
              <a:defRPr sz="1050">
                <a:solidFill>
                  <a:srgbClr val="059669"/>
                </a:solidFill>
                <a:latin typeface="Consolas"/>
              </a:defRPr>
            </a:pPr>
            <a:r>
              <a:t>// &gt; X-Content-Type-Options: nosniff</a:t>
            </a:r>
          </a:p>
          <a:p>
            <a:pPr>
              <a:defRPr sz="1050">
                <a:solidFill>
                  <a:srgbClr val="059669"/>
                </a:solidFill>
                <a:latin typeface="Consolas"/>
              </a:defRPr>
            </a:pPr>
            <a:r>
              <a:t>// &gt; X-Powered-By: [REDACTED/REMOVED]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4F46E5"/>
                </a:solidFill>
                <a:latin typeface="Calibri"/>
              </a:defRPr>
            </a:pPr>
            <a:r>
              <a:t>AWD TASK 3 | SECURITY LIBRARIES DEMO</a:t>
            </a:r>
          </a:p>
          <a:p>
            <a:pPr>
              <a:defRPr sz="2600" b="1">
                <a:solidFill>
                  <a:srgbClr val="0F172A"/>
                </a:solidFill>
                <a:latin typeface="Arial"/>
              </a:defRPr>
            </a:pPr>
            <a:r>
              <a:t>Task 3: Security Library 2 — bcrypt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600">
                <a:solidFill>
                  <a:srgbClr val="4F46E5"/>
                </a:solidFill>
              </a:defRPr>
            </a:pPr>
            <a:r>
              <a:t>PASSWORD HASHING &amp; CRYPTOGRAPHY</a:t>
            </a:r>
          </a:p>
          <a:p>
            <a:pPr>
              <a:defRPr b="1" sz="1200">
                <a:solidFill>
                  <a:srgbClr val="0F172A"/>
                </a:solidFill>
              </a:defRPr>
            </a:pPr>
            <a:r>
              <a:t>✔ Adaptive Work Factor (Cost 10)</a:t>
            </a:r>
          </a:p>
          <a:p>
            <a:pPr>
              <a:spcAft>
                <a:spcPts val="600"/>
              </a:spcAft>
              <a:defRPr sz="1100">
                <a:solidFill>
                  <a:srgbClr val="64748B"/>
                </a:solidFill>
              </a:defRPr>
            </a:pPr>
            <a:r>
              <a:t>   Crackly uses 10 salt rounds (2^10 = 1024 iterations), forcing ~100ms calculation time per hash. This prevents GPU brute-forcing.</a:t>
            </a:r>
          </a:p>
          <a:p>
            <a:pPr>
              <a:defRPr b="1" sz="1200">
                <a:solidFill>
                  <a:srgbClr val="0F172A"/>
                </a:solidFill>
              </a:defRPr>
            </a:pPr>
            <a:r>
              <a:t>✔ Cryptographic Salting</a:t>
            </a:r>
          </a:p>
          <a:p>
            <a:pPr>
              <a:spcAft>
                <a:spcPts val="600"/>
              </a:spcAft>
              <a:defRPr sz="1100">
                <a:solidFill>
                  <a:srgbClr val="64748B"/>
                </a:solidFill>
              </a:defRPr>
            </a:pPr>
            <a:r>
              <a:t>   A unique, cryptographically random salt is prepended to each password, ensuring two identical passwords produce completely different hashes.</a:t>
            </a:r>
          </a:p>
          <a:p>
            <a:pPr>
              <a:defRPr b="1" sz="1200">
                <a:solidFill>
                  <a:srgbClr val="0F172A"/>
                </a:solidFill>
              </a:defRPr>
            </a:pPr>
            <a:r>
              <a:t>✔ Rainbow Table Resistance</a:t>
            </a:r>
          </a:p>
          <a:p>
            <a:pPr>
              <a:spcAft>
                <a:spcPts val="600"/>
              </a:spcAft>
              <a:defRPr sz="1100">
                <a:solidFill>
                  <a:srgbClr val="64748B"/>
                </a:solidFill>
              </a:defRPr>
            </a:pPr>
            <a:r>
              <a:t>   Precomputed rainbow tables are rendered useless because hashes cannot be cracked in bulk.</a:t>
            </a:r>
          </a:p>
          <a:p>
            <a:pPr>
              <a:defRPr b="1" sz="1200">
                <a:solidFill>
                  <a:srgbClr val="0F172A"/>
                </a:solidFill>
              </a:defRPr>
            </a:pPr>
            <a:r>
              <a:t>✔ Timing-Attack Safe Verification</a:t>
            </a:r>
          </a:p>
          <a:p>
            <a:pPr>
              <a:spcAft>
                <a:spcPts val="600"/>
              </a:spcAft>
              <a:defRPr sz="1100">
                <a:solidFill>
                  <a:srgbClr val="64748B"/>
                </a:solidFill>
              </a:defRPr>
            </a:pPr>
            <a:r>
              <a:t>   bcrypt.compare() compares candidate input against the stored hash in constant time, avoiding timing-leak vulnerabilities.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182880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600">
                <a:solidFill>
                  <a:srgbClr val="0F172A"/>
                </a:solidFill>
              </a:defRPr>
            </a:pPr>
            <a:r>
              <a:t>IMPLEMENTATION IN USER.JS</a:t>
            </a:r>
          </a:p>
          <a:p>
            <a:pPr>
              <a:defRPr sz="1050">
                <a:solidFill>
                  <a:srgbClr val="059669"/>
                </a:solidFill>
                <a:latin typeface="Consolas"/>
              </a:defRPr>
            </a:pPr>
            <a:r>
              <a:t>// server/models/User.js</a:t>
            </a:r>
          </a:p>
          <a:p>
            <a:pPr>
              <a:defRPr sz="1050">
                <a:solidFill>
                  <a:srgbClr val="0F172A"/>
                </a:solidFill>
                <a:latin typeface="Consolas"/>
              </a:defRPr>
            </a:pPr>
            <a:r>
              <a:t>import bcrypt from 'bcryptjs';</a:t>
            </a:r>
          </a:p>
          <a:p>
            <a:pPr>
              <a:defRPr sz="1050">
                <a:solidFill>
                  <a:srgbClr val="0F172A"/>
                </a:solidFill>
                <a:latin typeface="Consolas"/>
              </a:defRPr>
            </a:pPr>
          </a:p>
          <a:p>
            <a:pPr>
              <a:defRPr sz="1050">
                <a:solidFill>
                  <a:srgbClr val="059669"/>
                </a:solidFill>
                <a:latin typeface="Consolas"/>
              </a:defRPr>
            </a:pPr>
            <a:r>
              <a:t>// Pre-save Mongoose hook:</a:t>
            </a:r>
          </a:p>
          <a:p>
            <a:pPr>
              <a:defRPr sz="1050">
                <a:solidFill>
                  <a:srgbClr val="0F172A"/>
                </a:solidFill>
                <a:latin typeface="Consolas"/>
              </a:defRPr>
            </a:pPr>
            <a:r>
              <a:t>userSchema.pre('save', async function(next) {</a:t>
            </a:r>
          </a:p>
          <a:p>
            <a:pPr>
              <a:defRPr sz="1050">
                <a:solidFill>
                  <a:srgbClr val="0F172A"/>
                </a:solidFill>
                <a:latin typeface="Consolas"/>
              </a:defRPr>
            </a:pPr>
            <a:r>
              <a:t>  if (!this.isModified('password')) return next();</a:t>
            </a:r>
          </a:p>
          <a:p>
            <a:pPr>
              <a:defRPr sz="1050">
                <a:solidFill>
                  <a:srgbClr val="0F172A"/>
                </a:solidFill>
                <a:latin typeface="Consolas"/>
              </a:defRPr>
            </a:pPr>
            <a:r>
              <a:t>  const salt = await bcrypt.genSalt(10);</a:t>
            </a:r>
          </a:p>
          <a:p>
            <a:pPr>
              <a:defRPr sz="1050">
                <a:solidFill>
                  <a:srgbClr val="0F172A"/>
                </a:solidFill>
                <a:latin typeface="Consolas"/>
              </a:defRPr>
            </a:pPr>
            <a:r>
              <a:t>  this.password = await bcrypt.hash(this.password, salt);</a:t>
            </a:r>
          </a:p>
          <a:p>
            <a:pPr>
              <a:defRPr sz="1050">
                <a:solidFill>
                  <a:srgbClr val="0F172A"/>
                </a:solidFill>
                <a:latin typeface="Consolas"/>
              </a:defRPr>
            </a:pPr>
            <a:r>
              <a:t>  next();</a:t>
            </a:r>
          </a:p>
          <a:p>
            <a:pPr>
              <a:defRPr sz="1050">
                <a:solidFill>
                  <a:srgbClr val="0F172A"/>
                </a:solidFill>
                <a:latin typeface="Consolas"/>
              </a:defRPr>
            </a:pPr>
            <a:r>
              <a:t>});</a:t>
            </a:r>
          </a:p>
          <a:p>
            <a:pPr>
              <a:defRPr sz="1050">
                <a:solidFill>
                  <a:srgbClr val="0F172A"/>
                </a:solidFill>
                <a:latin typeface="Consolas"/>
              </a:defRPr>
            </a:pPr>
          </a:p>
          <a:p>
            <a:pPr>
              <a:defRPr sz="1050">
                <a:solidFill>
                  <a:srgbClr val="059669"/>
                </a:solidFill>
                <a:latin typeface="Consolas"/>
              </a:defRPr>
            </a:pPr>
            <a:r>
              <a:t>// Instance method for secure login verification:</a:t>
            </a:r>
          </a:p>
          <a:p>
            <a:pPr>
              <a:defRPr sz="1050">
                <a:solidFill>
                  <a:srgbClr val="0F172A"/>
                </a:solidFill>
                <a:latin typeface="Consolas"/>
              </a:defRPr>
            </a:pPr>
            <a:r>
              <a:t>userSchema.methods.comparePassword = async function(cand) {</a:t>
            </a:r>
          </a:p>
          <a:p>
            <a:pPr>
              <a:defRPr sz="1050">
                <a:solidFill>
                  <a:srgbClr val="0F172A"/>
                </a:solidFill>
                <a:latin typeface="Consolas"/>
              </a:defRPr>
            </a:pPr>
            <a:r>
              <a:t>  return await bcrypt.compare(cand, this.password);</a:t>
            </a:r>
          </a:p>
          <a:p>
            <a:pPr>
              <a:defRPr sz="1050">
                <a:solidFill>
                  <a:srgbClr val="0F172A"/>
                </a:solidFill>
                <a:latin typeface="Consolas"/>
              </a:defRPr>
            </a:pPr>
            <a:r>
              <a:t>};</a:t>
            </a:r>
          </a:p>
          <a:p>
            <a:pPr>
              <a:defRPr sz="1050">
                <a:solidFill>
                  <a:srgbClr val="0F172A"/>
                </a:solidFill>
                <a:latin typeface="Consolas"/>
              </a:defRPr>
            </a:pPr>
          </a:p>
          <a:p>
            <a:pPr>
              <a:defRPr sz="1050">
                <a:solidFill>
                  <a:srgbClr val="059669"/>
                </a:solidFill>
                <a:latin typeface="Consolas"/>
              </a:defRPr>
            </a:pPr>
            <a:r>
              <a:t>// Live Execution Proof:</a:t>
            </a:r>
          </a:p>
          <a:p>
            <a:pPr>
              <a:defRPr sz="1050">
                <a:solidFill>
                  <a:srgbClr val="059669"/>
                </a:solidFill>
                <a:latin typeface="Consolas"/>
              </a:defRPr>
            </a:pPr>
            <a:r>
              <a:t>// Input: 'SecretPass@2026'</a:t>
            </a:r>
          </a:p>
          <a:p>
            <a:pPr>
              <a:defRPr sz="1050">
                <a:solidFill>
                  <a:srgbClr val="059669"/>
                </a:solidFill>
                <a:latin typeface="Consolas"/>
              </a:defRPr>
            </a:pPr>
            <a:r>
              <a:t>// Salt:  $2b$10$w8T9uY7.B3M...</a:t>
            </a:r>
          </a:p>
          <a:p>
            <a:pPr>
              <a:defRPr sz="1050">
                <a:solidFill>
                  <a:srgbClr val="059669"/>
                </a:solidFill>
                <a:latin typeface="Consolas"/>
              </a:defRPr>
            </a:pPr>
            <a:r>
              <a:t>// Hash:  $2b$10$w8T9uY7.B3M...C5kR8L1aPj4QZ9yM2V1k8A</a:t>
            </a:r>
          </a:p>
          <a:p>
            <a:pPr>
              <a:defRPr sz="1050">
                <a:solidFill>
                  <a:srgbClr val="059669"/>
                </a:solidFill>
                <a:latin typeface="Consolas"/>
              </a:defRPr>
            </a:pPr>
            <a:r>
              <a:t>// Result: bcrypt.compare(correct) === TRUE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4F46E5"/>
                </a:solidFill>
                <a:latin typeface="Calibri"/>
              </a:defRPr>
            </a:pPr>
            <a:r>
              <a:t>AWD TASK 3 | SECURITY LIBRARIES DEMO</a:t>
            </a:r>
          </a:p>
          <a:p>
            <a:pPr>
              <a:defRPr sz="2600" b="1">
                <a:solidFill>
                  <a:srgbClr val="0F172A"/>
                </a:solidFill>
                <a:latin typeface="Arial"/>
              </a:defRPr>
            </a:pPr>
            <a:r>
              <a:t>Task 3: Security Library 3 — Joi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600">
                <a:solidFill>
                  <a:srgbClr val="4F46E5"/>
                </a:solidFill>
              </a:defRPr>
            </a:pPr>
            <a:r>
              <a:t>SCHEMA VALIDATION &amp; SANITIZATION</a:t>
            </a:r>
          </a:p>
          <a:p>
            <a:pPr>
              <a:defRPr b="1" sz="1200">
                <a:solidFill>
                  <a:srgbClr val="0F172A"/>
                </a:solidFill>
              </a:defRPr>
            </a:pPr>
            <a:r>
              <a:t>✔ Strict Type Enforcement</a:t>
            </a:r>
          </a:p>
          <a:p>
            <a:pPr>
              <a:spcAft>
                <a:spcPts val="600"/>
              </a:spcAft>
              <a:defRPr sz="1100">
                <a:solidFill>
                  <a:srgbClr val="64748B"/>
                </a:solidFill>
              </a:defRPr>
            </a:pPr>
            <a:r>
              <a:t>   Rejects non-string inputs in search parameters, defeating NoSQL selector injections ({ $gt: '' }).</a:t>
            </a:r>
          </a:p>
          <a:p>
            <a:pPr>
              <a:defRPr b="1" sz="1200">
                <a:solidFill>
                  <a:srgbClr val="0F172A"/>
                </a:solidFill>
              </a:defRPr>
            </a:pPr>
            <a:r>
              <a:t>✔ URL Protocol Whitelisting</a:t>
            </a:r>
          </a:p>
          <a:p>
            <a:pPr>
              <a:spcAft>
                <a:spcPts val="600"/>
              </a:spcAft>
              <a:defRPr sz="1100">
                <a:solidFill>
                  <a:srgbClr val="64748B"/>
                </a:solidFill>
              </a:defRPr>
            </a:pPr>
            <a:r>
              <a:t>   Enforces that presentation and video links match http/https schemes, blocking javascript: XSS payloads.</a:t>
            </a:r>
          </a:p>
          <a:p>
            <a:pPr>
              <a:defRPr b="1" sz="1200">
                <a:solidFill>
                  <a:srgbClr val="0F172A"/>
                </a:solidFill>
              </a:defRPr>
            </a:pPr>
            <a:r>
              <a:t>✔ Mass-Assignment Protection</a:t>
            </a:r>
          </a:p>
          <a:p>
            <a:pPr>
              <a:spcAft>
                <a:spcPts val="600"/>
              </a:spcAft>
              <a:defRPr sz="1100">
                <a:solidFill>
                  <a:srgbClr val="64748B"/>
                </a:solidFill>
              </a:defRPr>
            </a:pPr>
            <a:r>
              <a:t>   With stripUnknown: true, any malicious unauthorized field (e.g., isAdmin: true) injected into req.body is discarded.</a:t>
            </a:r>
          </a:p>
          <a:p>
            <a:pPr>
              <a:defRPr b="1" sz="1200">
                <a:solidFill>
                  <a:srgbClr val="0F172A"/>
                </a:solidFill>
              </a:defRPr>
            </a:pPr>
            <a:r>
              <a:t>✔ Array &amp; Rubric Bounds Checking</a:t>
            </a:r>
          </a:p>
          <a:p>
            <a:pPr>
              <a:spcAft>
                <a:spcPts val="600"/>
              </a:spcAft>
              <a:defRPr sz="1100">
                <a:solidFill>
                  <a:srgbClr val="64748B"/>
                </a:solidFill>
              </a:defRPr>
            </a:pPr>
            <a:r>
              <a:t>   Ensures maxScore &gt;= 1, scoreAwarded &gt;= 0, and validates every item in the rubrics array.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182880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600">
                <a:solidFill>
                  <a:srgbClr val="0F172A"/>
                </a:solidFill>
              </a:defRPr>
            </a:pPr>
            <a:r>
              <a:t>SCHEMA MIDDLEWARE &amp; VERIFICATION</a:t>
            </a:r>
          </a:p>
          <a:p>
            <a:pPr>
              <a:defRPr sz="1050">
                <a:solidFill>
                  <a:srgbClr val="059669"/>
                </a:solidFill>
                <a:latin typeface="Consolas"/>
              </a:defRPr>
            </a:pPr>
            <a:r>
              <a:t>// server/validations/presentationValidation.js</a:t>
            </a:r>
          </a:p>
          <a:p>
            <a:pPr>
              <a:defRPr sz="1050">
                <a:solidFill>
                  <a:srgbClr val="0F172A"/>
                </a:solidFill>
                <a:latin typeface="Consolas"/>
              </a:defRPr>
            </a:pPr>
            <a:r>
              <a:t>export const createPresentationSchema = Joi.object({</a:t>
            </a:r>
          </a:p>
          <a:p>
            <a:pPr>
              <a:defRPr sz="1050">
                <a:solidFill>
                  <a:srgbClr val="0F172A"/>
                </a:solidFill>
                <a:latin typeface="Consolas"/>
              </a:defRPr>
            </a:pPr>
            <a:r>
              <a:t>  projectTitle: Joi.string().trim().min(3).required(),</a:t>
            </a:r>
          </a:p>
          <a:p>
            <a:pPr>
              <a:defRPr sz="1050">
                <a:solidFill>
                  <a:srgbClr val="0F172A"/>
                </a:solidFill>
                <a:latin typeface="Consolas"/>
              </a:defRPr>
            </a:pPr>
            <a:r>
              <a:t>  hackathonCategory: Joi.string().valid(</a:t>
            </a:r>
          </a:p>
          <a:p>
            <a:pPr>
              <a:defRPr sz="1050">
                <a:solidFill>
                  <a:srgbClr val="0F172A"/>
                </a:solidFill>
                <a:latin typeface="Consolas"/>
              </a:defRPr>
            </a:pPr>
            <a:r>
              <a:t>    'AI &amp; Machine Learning', 'Web3 &amp; Blockchain', ...</a:t>
            </a:r>
          </a:p>
          <a:p>
            <a:pPr>
              <a:defRPr sz="1050">
                <a:solidFill>
                  <a:srgbClr val="0F172A"/>
                </a:solidFill>
                <a:latin typeface="Consolas"/>
              </a:defRPr>
            </a:pPr>
            <a:r>
              <a:t>  ).required(),</a:t>
            </a:r>
          </a:p>
          <a:p>
            <a:pPr>
              <a:defRPr sz="1050">
                <a:solidFill>
                  <a:srgbClr val="0F172A"/>
                </a:solidFill>
                <a:latin typeface="Consolas"/>
              </a:defRPr>
            </a:pPr>
            <a:r>
              <a:t>  presentationUrl: Joi.string().uri({</a:t>
            </a:r>
          </a:p>
          <a:p>
            <a:pPr>
              <a:defRPr sz="1050">
                <a:solidFill>
                  <a:srgbClr val="0F172A"/>
                </a:solidFill>
                <a:latin typeface="Consolas"/>
              </a:defRPr>
            </a:pPr>
            <a:r>
              <a:t>    scheme: ['http', 'https']</a:t>
            </a:r>
          </a:p>
          <a:p>
            <a:pPr>
              <a:defRPr sz="1050">
                <a:solidFill>
                  <a:srgbClr val="0F172A"/>
                </a:solidFill>
                <a:latin typeface="Consolas"/>
              </a:defRPr>
            </a:pPr>
            <a:r>
              <a:t>  }).required(),</a:t>
            </a:r>
          </a:p>
          <a:p>
            <a:pPr>
              <a:defRPr sz="1050">
                <a:solidFill>
                  <a:srgbClr val="0F172A"/>
                </a:solidFill>
                <a:latin typeface="Consolas"/>
              </a:defRPr>
            </a:pPr>
            <a:r>
              <a:t>  rubrics: Joi.array().items(rubricItemSchema).min(1)</a:t>
            </a:r>
          </a:p>
          <a:p>
            <a:pPr>
              <a:defRPr sz="1050">
                <a:solidFill>
                  <a:srgbClr val="0F172A"/>
                </a:solidFill>
                <a:latin typeface="Consolas"/>
              </a:defRPr>
            </a:pPr>
            <a:r>
              <a:t>});</a:t>
            </a:r>
          </a:p>
          <a:p>
            <a:pPr>
              <a:defRPr sz="1050">
                <a:solidFill>
                  <a:srgbClr val="0F172A"/>
                </a:solidFill>
                <a:latin typeface="Consolas"/>
              </a:defRPr>
            </a:pPr>
          </a:p>
          <a:p>
            <a:pPr>
              <a:defRPr sz="1050">
                <a:solidFill>
                  <a:srgbClr val="059669"/>
                </a:solidFill>
                <a:latin typeface="Consolas"/>
              </a:defRPr>
            </a:pPr>
            <a:r>
              <a:t>// server/middleware/validate.js</a:t>
            </a:r>
          </a:p>
          <a:p>
            <a:pPr>
              <a:defRPr sz="1050">
                <a:solidFill>
                  <a:srgbClr val="0F172A"/>
                </a:solidFill>
                <a:latin typeface="Consolas"/>
              </a:defRPr>
            </a:pPr>
            <a:r>
              <a:t>export const validate = (schema, prop = 'body') =&gt; {</a:t>
            </a:r>
          </a:p>
          <a:p>
            <a:pPr>
              <a:defRPr sz="1050">
                <a:solidFill>
                  <a:srgbClr val="0F172A"/>
                </a:solidFill>
                <a:latin typeface="Consolas"/>
              </a:defRPr>
            </a:pPr>
            <a:r>
              <a:t>  return (req, res, next) =&gt; {</a:t>
            </a:r>
          </a:p>
          <a:p>
            <a:pPr>
              <a:defRPr sz="1050">
                <a:solidFill>
                  <a:srgbClr val="0F172A"/>
                </a:solidFill>
                <a:latin typeface="Consolas"/>
              </a:defRPr>
            </a:pPr>
            <a:r>
              <a:t>    const { error, value } = schema.validate(req[prop], {</a:t>
            </a:r>
          </a:p>
          <a:p>
            <a:pPr>
              <a:defRPr sz="1050">
                <a:solidFill>
                  <a:srgbClr val="0F172A"/>
                </a:solidFill>
                <a:latin typeface="Consolas"/>
              </a:defRPr>
            </a:pPr>
            <a:r>
              <a:t>      abortEarly: false, stripUnknown: true</a:t>
            </a:r>
          </a:p>
          <a:p>
            <a:pPr>
              <a:defRPr sz="1050">
                <a:solidFill>
                  <a:srgbClr val="0F172A"/>
                </a:solidFill>
                <a:latin typeface="Consolas"/>
              </a:defRPr>
            </a:pPr>
            <a:r>
              <a:t>    });</a:t>
            </a:r>
          </a:p>
          <a:p>
            <a:pPr>
              <a:defRPr sz="1050">
                <a:solidFill>
                  <a:srgbClr val="0F172A"/>
                </a:solidFill>
                <a:latin typeface="Consolas"/>
              </a:defRPr>
            </a:pPr>
            <a:r>
              <a:t>    if (error) return res.status(400).json({ errors });</a:t>
            </a:r>
          </a:p>
          <a:p>
            <a:pPr>
              <a:defRPr sz="1050">
                <a:solidFill>
                  <a:srgbClr val="0F172A"/>
                </a:solidFill>
                <a:latin typeface="Consolas"/>
              </a:defRPr>
            </a:pPr>
            <a:r>
              <a:t>    req[prop] = value; next();</a:t>
            </a:r>
          </a:p>
          <a:p>
            <a:pPr>
              <a:defRPr sz="1050">
                <a:solidFill>
                  <a:srgbClr val="0F172A"/>
                </a:solidFill>
                <a:latin typeface="Consolas"/>
              </a:defRPr>
            </a:pPr>
            <a:r>
              <a:t>  };</a:t>
            </a:r>
          </a:p>
          <a:p>
            <a:pPr>
              <a:defRPr sz="1050">
                <a:solidFill>
                  <a:srgbClr val="0F172A"/>
                </a:solidFill>
                <a:latin typeface="Consolas"/>
              </a:defRPr>
            </a:pPr>
            <a:r>
              <a:t>};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4F46E5"/>
                </a:solidFill>
                <a:latin typeface="Calibri"/>
              </a:defRPr>
            </a:pPr>
            <a:r>
              <a:t>AWD FINAL VIVA-VOCE CONCLUSION</a:t>
            </a:r>
          </a:p>
          <a:p>
            <a:pPr>
              <a:defRPr sz="2600" b="1">
                <a:solidFill>
                  <a:srgbClr val="0F172A"/>
                </a:solidFill>
                <a:latin typeface="Arial"/>
              </a:defRPr>
            </a:pPr>
            <a:r>
              <a:t>Summary, Learning Outcomes &amp; Viva Readiness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600">
                <a:solidFill>
                  <a:srgbClr val="4F46E5"/>
                </a:solidFill>
              </a:defRPr>
            </a:pPr>
            <a:r>
              <a:t>KEY LEARNING OUTCOMES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</a:defRPr>
            </a:pPr>
            <a:r>
              <a:t>✔ End-to-End MERN Engineering: Mastered decoupled React frontend integration with Express REST APIs and Mongoose document models.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</a:defRPr>
            </a:pPr>
            <a:r>
              <a:t>✔ Security-First Engineering: Implemented defense-in-depth across transport (Helmet), storage (bcrypt), and input ingestion (Joi).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</a:defRPr>
            </a:pPr>
            <a:r>
              <a:t>✔ Architectural Trade-Off Analysis: Gained deep conceptual clarity on REST vs. GraphQL, MongoDB vs. MySQL, React vs. Angular, and JWT vs. Sessions.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</a:defRPr>
            </a:pPr>
            <a:r>
              <a:t>✔ Resilient UX: Designed offline-fallback capabilities so the application remains responsive even when backend services disconnect.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182880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600">
                <a:solidFill>
                  <a:srgbClr val="059669"/>
                </a:solidFill>
              </a:defRPr>
            </a:pPr>
            <a:r>
              <a:t>VIVA-VOCE DELIVERABLES CHECKLIST</a:t>
            </a:r>
          </a:p>
          <a:p>
            <a:pPr>
              <a:spcAft>
                <a:spcPts val="800"/>
              </a:spcAft>
              <a:defRPr sz="1200" b="1">
                <a:solidFill>
                  <a:srgbClr val="0F172A"/>
                </a:solidFill>
              </a:defRPr>
            </a:pPr>
            <a:r>
              <a:t>✅ Task 1 Report: docs/TASK_1_COMPARATIVE_STUDY.md</a:t>
            </a:r>
          </a:p>
          <a:p>
            <a:pPr>
              <a:spcAft>
                <a:spcPts val="800"/>
              </a:spcAft>
              <a:defRPr sz="1200" b="1">
                <a:solidFill>
                  <a:srgbClr val="0F172A"/>
                </a:solidFill>
              </a:defRPr>
            </a:pPr>
            <a:r>
              <a:t>✅ Task 2 Report: docs/TASK_2_SECURITY_AUDIT.md</a:t>
            </a:r>
          </a:p>
          <a:p>
            <a:pPr>
              <a:spcAft>
                <a:spcPts val="800"/>
              </a:spcAft>
              <a:defRPr sz="1200" b="1">
                <a:solidFill>
                  <a:srgbClr val="0F172A"/>
                </a:solidFill>
              </a:defRPr>
            </a:pPr>
            <a:r>
              <a:t>✅ Task 3 Report: docs/TASK_3_SECURITY_LIBRARIES_DEMO.md</a:t>
            </a:r>
          </a:p>
          <a:p>
            <a:pPr>
              <a:spcAft>
                <a:spcPts val="800"/>
              </a:spcAft>
              <a:defRPr sz="1200" b="1">
                <a:solidFill>
                  <a:srgbClr val="0F172A"/>
                </a:solidFill>
              </a:defRPr>
            </a:pPr>
            <a:r>
              <a:t>✅ Viva Presentation: docs/AWD_Final_Viva_Presentation_Crackly.pptx</a:t>
            </a:r>
          </a:p>
          <a:p>
            <a:pPr>
              <a:spcAft>
                <a:spcPts val="800"/>
              </a:spcAft>
              <a:defRPr sz="1200" b="1">
                <a:solidFill>
                  <a:srgbClr val="0F172A"/>
                </a:solidFill>
              </a:defRPr>
            </a:pPr>
            <a:r>
              <a:t>✅ Word Report: docs/AWD_Final_Viva_Submission_Crackly.docx</a:t>
            </a:r>
          </a:p>
          <a:p>
            <a:pPr>
              <a:spcAft>
                <a:spcPts val="800"/>
              </a:spcAft>
              <a:defRPr sz="1200" b="1">
                <a:solidFill>
                  <a:srgbClr val="0F172A"/>
                </a:solidFill>
              </a:defRPr>
            </a:pPr>
            <a:r>
              <a:t>✅ Viva Q&amp;A Guide: docs/VIVA_QUESTION_BANK.md</a:t>
            </a:r>
          </a:p>
          <a:p>
            <a:pPr>
              <a:spcAft>
                <a:spcPts val="800"/>
              </a:spcAft>
              <a:defRPr sz="1200" b="1">
                <a:solidFill>
                  <a:srgbClr val="0F172A"/>
                </a:solidFill>
              </a:defRPr>
            </a:pPr>
            <a:r>
              <a:t>✅ Live Codebase: Clean, tested, and pushed to ToshalTrivedi/AWD_Project-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